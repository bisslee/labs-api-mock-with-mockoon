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81" r:id="rId5"/>
    <p:sldId id="284" r:id="rId6"/>
    <p:sldId id="280" r:id="rId7"/>
    <p:sldId id="294" r:id="rId8"/>
    <p:sldId id="324" r:id="rId9"/>
    <p:sldId id="323" r:id="rId10"/>
    <p:sldId id="325" r:id="rId11"/>
    <p:sldId id="326" r:id="rId12"/>
    <p:sldId id="327" r:id="rId13"/>
    <p:sldId id="328" r:id="rId14"/>
    <p:sldId id="267" r:id="rId15"/>
    <p:sldId id="301" r:id="rId16"/>
    <p:sldId id="329" r:id="rId17"/>
    <p:sldId id="310" r:id="rId18"/>
    <p:sldId id="311" r:id="rId19"/>
    <p:sldId id="330" r:id="rId20"/>
    <p:sldId id="314" r:id="rId21"/>
    <p:sldId id="317" r:id="rId22"/>
    <p:sldId id="318" r:id="rId23"/>
    <p:sldId id="319" r:id="rId24"/>
    <p:sldId id="320" r:id="rId25"/>
    <p:sldId id="282" r:id="rId2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492" autoAdjust="0"/>
    <p:restoredTop sz="94915" autoAdjust="0"/>
  </p:normalViewPr>
  <p:slideViewPr>
    <p:cSldViewPr snapToGrid="0">
      <p:cViewPr>
        <p:scale>
          <a:sx n="66" d="100"/>
          <a:sy n="66" d="100"/>
        </p:scale>
        <p:origin x="198" y="9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80" d="100"/>
          <a:sy n="80" d="100"/>
        </p:scale>
        <p:origin x="3972" y="1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6E8952C1-FF49-4DE9-B273-63B21BE8D19A}" type="datetime1">
              <a:rPr lang="pt-BR" smtClean="0"/>
              <a:t>13/04/2025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F757874-EF65-4B61-B062-40C932C8129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28CE1D23-92FC-4FDC-88AB-1F1F9BAAB6C3}" type="datetime1">
              <a:rPr lang="pt-BR" smtClean="0"/>
              <a:pPr/>
              <a:t>13/04/2025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55247812-3409-784D-BAE7-ABE53735D59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87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E320-5846-E4F6-87FD-C9166C046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490DC1D7-5901-6AF2-929E-6D145B56B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7EF0493-C028-9252-4BB7-C67521785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868A043-F2A1-EFCD-32C2-1CAE66A7C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964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6B64-9CC4-A2D5-2E87-A1A71D2D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0B66284-7DC2-AA50-3F00-0BF4E23EA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7E391ED-F0C6-F0A0-9017-7A1B3973D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1F9BC7E-3D2D-E861-DA9A-6A54F139B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0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BF5EC-B8B9-B4A4-2F65-803ADE3C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5799012-BEBF-C60F-8007-A1A032AE1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798CBCA-CA90-F20F-EEEF-527CB6085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6CBFB34-2F56-FB4A-2F06-694DAB742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262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8E210-FC95-BD4D-2563-824224444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94BE3E3-B334-A883-DA83-4397C72D2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61BB40E-D5C4-D949-5DFE-E53ABEC1D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3AB114C-BCD2-CE32-1DB8-30C03A6CB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541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3F4D5-8E19-296F-0322-E8E2CCF0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45120D6-AE27-4578-8094-39C2EEBFC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350E69D-46A5-80C4-C363-334C4B25F1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B933589-E34E-EFC9-14EE-33F494BF8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054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86D17-FE30-C6E8-AD5F-A9B06050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52104DE-6902-743B-2C25-3DEEF6584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5C86D6F-57A1-BC12-6C14-EC1B3A4F5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D5E29FB-3431-7EF7-B5FA-C9DEB8F7A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1963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1E08-358E-CF95-6F05-B6B72741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C131D4E7-736B-1CD4-D63E-D528E0735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F750890-4404-40FA-AF3A-DE1C9F028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18C0E02-7FC6-EE45-075E-F82D4925E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43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9793-DF3A-D71A-5FC5-D05F621E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974DF5C-5305-CF71-FDBC-44353F5A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06345B8-7240-181F-539A-43765C61E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944DB69-79E5-B97B-D9F2-867B8CE65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453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55247812-3409-784D-BAE7-ABE53735D59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596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rtlCol="0" anchor="b">
            <a:no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lang="pt-BR"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lang="pt-BR"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lang="pt-BR"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lang="pt-BR"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lang="pt-BR" sz="1800" cap="all" spc="300" baseline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4837174" cy="554037"/>
          </a:xfrm>
          <a:prstGeom prst="rect">
            <a:avLst/>
          </a:prstGeom>
          <a:gradFill flip="none" rotWithShape="1">
            <a:gsLst>
              <a:gs pos="27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75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rtlCol="0" anchor="b">
            <a:noAutofit/>
          </a:bodyPr>
          <a:lstStyle>
            <a:lvl1pPr algn="ctr">
              <a:defRPr lang="pt-BR" sz="3200"/>
            </a:lvl1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 rtlCol="0">
            <a:normAutofit/>
          </a:bodyPr>
          <a:lstStyle>
            <a:lvl1pPr marL="0" indent="0" algn="l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27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75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pt-BR" sz="1800">
                <a:solidFill>
                  <a:schemeClr val="lt1"/>
                </a:solidFill>
                <a:latin typeface="Congenial Black" panose="02000503040000020004" pitchFamily="2" charset="0"/>
              </a:defRPr>
            </a:lvl1pPr>
          </a:lstStyle>
          <a:p>
            <a:pPr marL="0" lvl="0" algn="ctr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rtlCol="0" anchor="ctr" anchorCtr="0">
            <a:no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 rtlCol="0"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27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75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lvl="0" algn="ctr"/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pt-BR" sz="48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 flip="none" rotWithShape="1">
            <a:gsLst>
              <a:gs pos="100000">
                <a:schemeClr val="accent1">
                  <a:lumMod val="60000"/>
                  <a:lumOff val="40000"/>
                </a:schemeClr>
              </a:gs>
              <a:gs pos="1794">
                <a:schemeClr val="accent1">
                  <a:lumMod val="60000"/>
                  <a:lumOff val="40000"/>
                </a:schemeClr>
              </a:gs>
              <a:gs pos="74000">
                <a:schemeClr val="accent1">
                  <a:lumMod val="50000"/>
                </a:schemeClr>
              </a:gs>
              <a:gs pos="28000">
                <a:schemeClr val="accent1">
                  <a:lumMod val="50000"/>
                </a:schemeClr>
              </a:gs>
            </a:gsLst>
            <a:lin ang="2700000" scaled="1"/>
            <a:tileRect/>
          </a:gradFill>
        </p:spPr>
        <p:txBody>
          <a:bodyPr rtlCol="0" anchor="ctr">
            <a:normAutofit/>
          </a:bodyPr>
          <a:lstStyle>
            <a:lvl1pPr marL="0" indent="0" algn="ctr">
              <a:buNone/>
              <a:defRPr lang="pt-BR"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 dirty="0"/>
              <a:t>Clique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27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75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lvl="0"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Conteúdo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D6D8061D-18C3-4F4F-85EF-561633F58754}" type="datetimeFigureOut">
              <a:rPr lang="pt-BR" smtClean="0"/>
              <a:pPr/>
              <a:t>13/04/2025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75D095C1-6B28-3C6E-61BD-B43BBD1B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27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rtlCol="0" anchor="ctr" anchorCtr="0">
            <a:noAutofit/>
          </a:bodyPr>
          <a:lstStyle>
            <a:lvl1pPr algn="ctr"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 rtlCol="0"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lang="pt-BR"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lang="pt-BR"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lang="pt-BR"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lang="pt-BR"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D6D8061D-18C3-4F4F-85EF-561633F58754}" type="datetimeFigureOut">
              <a:rPr lang="pt-BR" smtClean="0"/>
              <a:pPr/>
              <a:t>13/04/2025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+ image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rtlCol="0" anchor="b" anchorCtr="0">
            <a:no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27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7500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lvl="0" algn="ctr"/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+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3A28782-F893-C3FA-EBC6-7D48545C4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27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Conteúdo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2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8" name="Espaço Reservado para Tabe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Clique no ícone para adicionar uma tabela</a:t>
            </a:r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D6D8061D-18C3-4F4F-85EF-561633F58754}" type="datetimeFigureOut">
              <a:rPr lang="pt-BR" smtClean="0"/>
              <a:pPr/>
              <a:t>13/04/2025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rtlCol="0" anchor="ctr" anchorCtr="0">
            <a:noAutofit/>
          </a:bodyPr>
          <a:lstStyle>
            <a:lvl1pPr algn="ctr"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Conteúdo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lang="pt-BR"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lang="pt-BR" sz="1800">
                <a:latin typeface="+mn-lt"/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27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D6D8061D-18C3-4F4F-85EF-561633F58754}" type="datetimeFigureOut">
              <a:rPr lang="pt-BR" smtClean="0"/>
              <a:pPr/>
              <a:t>13/04/2025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9222C72F-D915-D364-A242-DF6E489CB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74000">
                <a:schemeClr val="accent1">
                  <a:lumMod val="50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27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>
            <a:noAutofit/>
          </a:bodyPr>
          <a:lstStyle>
            <a:lvl1pPr algn="ctr"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abe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 rtlCol="0"/>
          <a:lstStyle>
            <a:lvl1pPr>
              <a:defRPr lang="pt-BR"/>
            </a:lvl1pPr>
          </a:lstStyle>
          <a:p>
            <a:pPr rtl="0"/>
            <a:r>
              <a:rPr lang="pt-BR"/>
              <a:t>Clicar no ícone para adicionar uma tabela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D6D8061D-18C3-4F4F-85EF-561633F58754}" type="datetimeFigureOut">
              <a:rPr lang="pt-BR" smtClean="0"/>
              <a:pPr/>
              <a:t>13/04/2025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  <a:lvl1pPr>
              <a:defRPr>
                <a:solidFill>
                  <a:schemeClr val="bg1"/>
                </a:solidFill>
              </a:defRPr>
            </a:lvl1pPr>
          </a:lstStyle>
          <a:p>
            <a:fld id="{CBD12358-51D2-46B3-9BDE-DF29528B945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dirty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rtlCol="0" anchor="b">
            <a:noAutofit/>
          </a:bodyPr>
          <a:lstStyle>
            <a:lvl1pPr algn="ctr">
              <a:spcBef>
                <a:spcPts val="1000"/>
              </a:spcBef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 dirty="0"/>
              <a:t>Clique para adicionar um título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 rtlCol="0">
            <a:normAutofit/>
          </a:bodyPr>
          <a:lstStyle>
            <a:lvl1pPr marL="0" indent="0" algn="ctr"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dirty="0"/>
              <a:t>Clique para adicionar o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5609E-C774-7F2C-A0E0-349AE78D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A90DDC-EC6A-4B2A-C08A-477A236B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BB40CF-778C-E92D-2CB0-B12635CB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2CF7D9-BA4E-B94D-2795-00903917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30E6FB-239F-7D27-6E5C-7533F67F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510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EA1CE-55E6-F58A-AB32-E40F0536B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593DCB-5F32-74D9-CF6E-701771EC4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12BD36-7E31-7880-5163-B29882C8E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B4E98D-A22B-3309-8BC8-7B52D418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616EC6-8B95-21F6-B293-6CF6640D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08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 dirty="0"/>
              <a:t>Clique para editar o texto Mestre</a:t>
            </a:r>
          </a:p>
          <a:p>
            <a:pPr lvl="1" rtl="0"/>
            <a:r>
              <a:rPr lang="pt-BR" dirty="0"/>
              <a:t>Segundo nível</a:t>
            </a:r>
          </a:p>
          <a:p>
            <a:pPr lvl="2" rtl="0"/>
            <a:r>
              <a:rPr lang="pt-BR" dirty="0"/>
              <a:t>Terceiro nível</a:t>
            </a:r>
          </a:p>
          <a:p>
            <a:pPr lvl="3" rtl="0"/>
            <a:r>
              <a:rPr lang="pt-BR" dirty="0"/>
              <a:t>Quarto nível</a:t>
            </a:r>
          </a:p>
          <a:p>
            <a:pPr lvl="4" rtl="0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>
                    <a:tint val="82000"/>
                  </a:schemeClr>
                </a:solidFill>
                <a:latin typeface="Congenial Black" panose="02000503040000020004" pitchFamily="2" charset="0"/>
              </a:defRPr>
            </a:lvl1pPr>
          </a:lstStyle>
          <a:p>
            <a:fld id="{D6D8061D-18C3-4F4F-85EF-561633F58754}" type="datetimeFigureOut">
              <a:rPr lang="pt-BR" smtClean="0"/>
              <a:pPr/>
              <a:t>13/04/2025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200">
                <a:solidFill>
                  <a:schemeClr val="tx1">
                    <a:tint val="82000"/>
                  </a:schemeClr>
                </a:solidFill>
                <a:latin typeface="Congenial Black" panose="02000503040000020004" pitchFamily="2" charset="0"/>
              </a:defRPr>
            </a:lvl1pPr>
          </a:lstStyle>
          <a:p>
            <a:endParaRPr lang="pt-BR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1200">
                <a:solidFill>
                  <a:schemeClr val="tx1">
                    <a:tint val="82000"/>
                  </a:schemeClr>
                </a:solidFill>
                <a:latin typeface="Congenial Black" panose="02000503040000020004" pitchFamily="2" charset="0"/>
              </a:defRPr>
            </a:lvl1pPr>
          </a:lstStyle>
          <a:p>
            <a:fld id="{CBD12358-51D2-46B3-9BDE-DF29528B945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  <p:sldLayoutId id="2147483667" r:id="rId13"/>
    <p:sldLayoutId id="214748366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cap="all" spc="300" baseline="0">
          <a:solidFill>
            <a:schemeClr val="accent1">
              <a:lumMod val="50000"/>
            </a:schemeClr>
          </a:solidFill>
          <a:latin typeface="Congenial Black" panose="0200050304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accent1">
              <a:lumMod val="75000"/>
            </a:schemeClr>
          </a:solidFill>
          <a:latin typeface="Congenial Black" panose="02000503040000020004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Congenial Black" panose="02000503040000020004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Congenial Black" panose="02000503040000020004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Congenial Black" panose="02000503040000020004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Congenial Black" panose="02000503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ckoon/cli" TargetMode="External"/><Relationship Id="rId2" Type="http://schemas.openxmlformats.org/officeDocument/2006/relationships/hyperlink" Target="https://mockoon.com/docs/latest/about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mockoon/mockoon/discussions" TargetMode="External"/><Relationship Id="rId4" Type="http://schemas.openxmlformats.org/officeDocument/2006/relationships/hyperlink" Target="https://mockoon.com/tutorials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7" descr="imagem abstrata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accent1">
              <a:alpha val="0"/>
            </a:schemeClr>
          </a:solidFill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86000"/>
            <a:ext cx="12192000" cy="2286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API </a:t>
            </a:r>
            <a:r>
              <a:rPr lang="pt-BR" dirty="0" err="1"/>
              <a:t>Mock</a:t>
            </a:r>
            <a:r>
              <a:rPr lang="pt-BR" dirty="0"/>
              <a:t> e-Frotas </a:t>
            </a:r>
            <a:br>
              <a:rPr lang="pt-BR" dirty="0"/>
            </a:br>
            <a:r>
              <a:rPr lang="pt-BR" dirty="0"/>
              <a:t>com </a:t>
            </a:r>
            <a:r>
              <a:rPr lang="pt-BR" dirty="0" err="1"/>
              <a:t>Mockoon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764CDF-F32A-5064-EA43-9ECD6AA31D73}"/>
              </a:ext>
            </a:extLst>
          </p:cNvPr>
          <p:cNvSpPr txBox="1"/>
          <p:nvPr/>
        </p:nvSpPr>
        <p:spPr>
          <a:xfrm>
            <a:off x="0" y="5254171"/>
            <a:ext cx="12192000" cy="369332"/>
          </a:xfrm>
          <a:prstGeom prst="rect">
            <a:avLst/>
          </a:prstGeom>
          <a:effectLst>
            <a:outerShdw blurRad="101600" dist="88900" dir="5400000" algn="ctr" rotWithShape="0">
              <a:schemeClr val="accent1">
                <a:lumMod val="50000"/>
              </a:schemeClr>
            </a:out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4800" cap="all" spc="300" baseline="0">
                <a:solidFill>
                  <a:schemeClr val="bg1"/>
                </a:solidFill>
                <a:latin typeface="Congenial Black" panose="02000503040000020004" pitchFamily="2" charset="0"/>
                <a:ea typeface="+mj-ea"/>
                <a:cs typeface="+mj-cs"/>
              </a:defRPr>
            </a:lvl1pPr>
          </a:lstStyle>
          <a:p>
            <a:r>
              <a:rPr lang="pt-B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Tickets Team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732971"/>
          </a:xfrm>
          <a:noFill/>
        </p:spPr>
        <p:txBody>
          <a:bodyPr rtlCol="0" anchor="t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AGENDA</a:t>
            </a:r>
          </a:p>
        </p:txBody>
      </p:sp>
      <p:pic>
        <p:nvPicPr>
          <p:cNvPr id="15" name="Espaço Reservado para Imagem 14" descr="Um grupo de pessoas sentadas ao redor de uma mesa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7" y="1190171"/>
            <a:ext cx="5063125" cy="4698565"/>
          </a:xfrm>
          <a:noFill/>
        </p:spPr>
        <p:txBody>
          <a:bodyPr rtlCol="0" anchor="t">
            <a:normAutofit fontScale="92500"/>
          </a:bodyPr>
          <a:lstStyle>
            <a:defPPr>
              <a:defRPr lang="pt-BR"/>
            </a:defPPr>
          </a:lstStyle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Introdução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Conceitos Fundamentais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Solução Técnica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Demonstração ao Vivo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Benefícios e Casos de Uso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Guia Prático de Implementação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Conclusão e Próximos Passos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accent1">
                    <a:lumMod val="75000"/>
                  </a:schemeClr>
                </a:solidFill>
              </a:rPr>
              <a:t>Perguntas e Respostas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B6D469-F8DC-278F-C856-8A1C8BCA7D1E}"/>
              </a:ext>
            </a:extLst>
          </p:cNvPr>
          <p:cNvSpPr/>
          <p:nvPr/>
        </p:nvSpPr>
        <p:spPr>
          <a:xfrm rot="743253">
            <a:off x="793154" y="-707075"/>
            <a:ext cx="4455794" cy="8272147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7" descr="Imagem ampliada de um código de computador">
            <a:extLst>
              <a:ext uri="{FF2B5EF4-FFF2-40B4-BE49-F238E27FC236}">
                <a16:creationId xmlns:a16="http://schemas.microsoft.com/office/drawing/2014/main" id="{94D43AA7-0244-2FEB-86AC-B5DECE0232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AA601-F1EA-6E9B-1156-848B1953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spaço Reservado para Conteúdo 51">
            <a:extLst>
              <a:ext uri="{FF2B5EF4-FFF2-40B4-BE49-F238E27FC236}">
                <a16:creationId xmlns:a16="http://schemas.microsoft.com/office/drawing/2014/main" id="{6D587504-29F2-E0D0-EC13-FC9B0B485E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9858830" cy="41371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lvl="1"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Necessidade de testar aplicações que consomem a API e-Frotas</a:t>
            </a:r>
          </a:p>
          <a:p>
            <a:pPr marL="342900" lvl="1"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Dependência de ambientes externos para testes</a:t>
            </a:r>
          </a:p>
          <a:p>
            <a:pPr marL="342900" lvl="1"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Dificuldade em simular todos os cenários possíveis</a:t>
            </a:r>
          </a:p>
          <a:p>
            <a:pPr marL="342900" lvl="1"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Limitações de acesso ao ambiente de homologação</a:t>
            </a:r>
          </a:p>
          <a:p>
            <a:pPr marL="342900" lvl="1"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Necessidade de certificado digital para acesso à API real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55D69AD1-A4A6-DCB0-F419-8BCA03E5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Problema</a:t>
            </a:r>
          </a:p>
        </p:txBody>
      </p:sp>
    </p:spTree>
    <p:extLst>
      <p:ext uri="{BB962C8B-B14F-4D97-AF65-F5344CB8AC3E}">
        <p14:creationId xmlns:p14="http://schemas.microsoft.com/office/powerpoint/2010/main" val="66460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3F515-1B83-DEB4-C2A9-94D1944B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5D5D6-0672-6FF9-0BBB-8F01FB6FB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760"/>
            <a:ext cx="12192000" cy="132588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O Objetivos do Projeto</a:t>
            </a:r>
          </a:p>
        </p:txBody>
      </p:sp>
      <p:sp>
        <p:nvSpPr>
          <p:cNvPr id="52" name="Espaço Reservado para Conteúdo 51">
            <a:extLst>
              <a:ext uri="{FF2B5EF4-FFF2-40B4-BE49-F238E27FC236}">
                <a16:creationId xmlns:a16="http://schemas.microsoft.com/office/drawing/2014/main" id="{73FF89DC-D186-1B5E-E9FD-A2DAE94CFF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9858830" cy="41371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342900" lvl="1"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Criar um ambiente de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mock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completo usando a API e-Frotas</a:t>
            </a:r>
          </a:p>
          <a:p>
            <a:pPr marL="342900" lvl="1"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Permitir desenvolvimento e testes sem dependências externas</a:t>
            </a:r>
          </a:p>
          <a:p>
            <a:pPr marL="342900" lvl="1"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Simular todos os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endpoints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definidos na especificação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OpenAPI</a:t>
            </a:r>
            <a:endParaRPr lang="pt-BR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1"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Facilitar a configuração e execução do ambiente de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mock</a:t>
            </a:r>
            <a:endParaRPr lang="pt-BR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342900" lvl="1"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Possibilitar personalização das respostas para diferentes cenários de teste</a:t>
            </a:r>
          </a:p>
          <a:p>
            <a:pPr marL="342900" lvl="1">
              <a:buFont typeface="+mj-lt"/>
              <a:buAutoNum type="alphaLcPeriod"/>
            </a:pP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222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5337-62BF-E43E-34C9-01A47EBD7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7" descr="Imagem ampliada de um código de computador">
            <a:extLst>
              <a:ext uri="{FF2B5EF4-FFF2-40B4-BE49-F238E27FC236}">
                <a16:creationId xmlns:a16="http://schemas.microsoft.com/office/drawing/2014/main" id="{80013ABC-B652-7CD9-E851-BED7572AEA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7813" b="7813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6A6B142-5D10-2F7F-4291-8DF1D4CFB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Conceitos </a:t>
            </a:r>
            <a:br>
              <a:rPr lang="pt-BR" dirty="0"/>
            </a:br>
            <a:r>
              <a:rPr lang="pt-BR" dirty="0"/>
              <a:t>Fundamentais</a:t>
            </a:r>
          </a:p>
        </p:txBody>
      </p:sp>
    </p:spTree>
    <p:extLst>
      <p:ext uri="{BB962C8B-B14F-4D97-AF65-F5344CB8AC3E}">
        <p14:creationId xmlns:p14="http://schemas.microsoft.com/office/powerpoint/2010/main" val="136445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F908-8121-F2C6-11DD-D8E84A374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77DDD-FA1C-AF26-F1DB-3BFA348BE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760"/>
            <a:ext cx="12192000" cy="132588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Desafios no Desenvolvimento </a:t>
            </a:r>
            <a:br>
              <a:rPr lang="pt-BR" dirty="0"/>
            </a:br>
            <a:r>
              <a:rPr lang="pt-BR" dirty="0"/>
              <a:t>com APIs Externas</a:t>
            </a:r>
          </a:p>
        </p:txBody>
      </p:sp>
      <p:sp>
        <p:nvSpPr>
          <p:cNvPr id="52" name="Espaço Reservado para Conteúdo 51">
            <a:extLst>
              <a:ext uri="{FF2B5EF4-FFF2-40B4-BE49-F238E27FC236}">
                <a16:creationId xmlns:a16="http://schemas.microsoft.com/office/drawing/2014/main" id="{DC021E78-EA8B-3454-80C9-2B89FB621B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9858830" cy="41371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Dependência de disponibilidade do serviço externo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Limitações de acesso (certificados, credenciais, etc.)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Dificuldade em simular todos os cenários possíveis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Rate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limits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e custos associados a chamadas frequentes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Complexidade em configurar ambientes de teste</a:t>
            </a: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580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724AC-334B-3961-92DD-B0CB02E6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3C417-68C0-E464-5925-9801EC1E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760"/>
            <a:ext cx="12192000" cy="132588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Desafios no Desenvolvimento </a:t>
            </a:r>
            <a:br>
              <a:rPr lang="pt-BR" dirty="0"/>
            </a:br>
            <a:r>
              <a:rPr lang="pt-BR" dirty="0"/>
              <a:t>com APIs Externas</a:t>
            </a:r>
          </a:p>
        </p:txBody>
      </p:sp>
      <p:sp>
        <p:nvSpPr>
          <p:cNvPr id="52" name="Espaço Reservado para Conteúdo 51">
            <a:extLst>
              <a:ext uri="{FF2B5EF4-FFF2-40B4-BE49-F238E27FC236}">
                <a16:creationId xmlns:a16="http://schemas.microsoft.com/office/drawing/2014/main" id="{A7F847B6-E239-D1E3-6AA3-734D73609C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9858830" cy="41371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Dependência de disponibilidade do serviço externo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Limitações de acesso (certificados, credenciais, etc.)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Dificuldade em simular todos os cenários possíveis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Rate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limits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e custos associados a chamadas frequentes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Complexidade em configurar ambientes de teste</a:t>
            </a: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581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3566F-295B-218F-C831-E6BCC518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56AE8-8D39-59A1-9F25-779E95818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760"/>
            <a:ext cx="12192000" cy="132588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/>
              <a:t>O que são APIs </a:t>
            </a:r>
            <a:r>
              <a:rPr lang="pt-BR" dirty="0" err="1"/>
              <a:t>Mock</a:t>
            </a:r>
            <a:r>
              <a:rPr lang="pt-BR" dirty="0"/>
              <a:t>?</a:t>
            </a:r>
          </a:p>
        </p:txBody>
      </p:sp>
      <p:sp>
        <p:nvSpPr>
          <p:cNvPr id="52" name="Espaço Reservado para Conteúdo 51">
            <a:extLst>
              <a:ext uri="{FF2B5EF4-FFF2-40B4-BE49-F238E27FC236}">
                <a16:creationId xmlns:a16="http://schemas.microsoft.com/office/drawing/2014/main" id="{17C4E37E-E5F9-97D7-D8C1-B62262F94A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9858830" cy="41371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Simulações de APIs reais que retornam dados predefinidos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Substituem temporariamente serviços externos durante desenvolvimento e testes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Permitem trabalhar sem dependência de sistemas externos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Facilitam a simulação de diferentes cenários e casos de erro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lphaL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Aceleram o ciclo de desenvolvimento e testes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lphaLcPeriod"/>
            </a:pP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6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0142F-09CB-12C9-2446-25BF9B572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493EBA-1AD0-E655-9887-7C15AB0A2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760"/>
            <a:ext cx="12192000" cy="1325880"/>
          </a:xfrm>
          <a:noFill/>
        </p:spPr>
        <p:txBody>
          <a:bodyPr rtlCol="0" anchor="ctr"/>
          <a:lstStyle>
            <a:defPPr>
              <a:defRPr lang="pt-BR"/>
            </a:defPPr>
          </a:lstStyle>
          <a:p>
            <a:pPr rtl="0"/>
            <a:r>
              <a:rPr lang="pt-BR" dirty="0" err="1"/>
              <a:t>Mockoon</a:t>
            </a:r>
            <a:endParaRPr lang="pt-BR" dirty="0"/>
          </a:p>
        </p:txBody>
      </p:sp>
      <p:sp>
        <p:nvSpPr>
          <p:cNvPr id="52" name="Espaço Reservado para Conteúdo 51">
            <a:extLst>
              <a:ext uri="{FF2B5EF4-FFF2-40B4-BE49-F238E27FC236}">
                <a16:creationId xmlns:a16="http://schemas.microsoft.com/office/drawing/2014/main" id="{F97C64DB-3DB4-8FCC-27B3-DFB68950CAB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9858830" cy="41371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Ferramenta open-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source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para criação de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mock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APIs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Interface gráfica e CLI (Command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Line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 Interface)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Suporte a </a:t>
            </a:r>
            <a:r>
              <a:rPr lang="pt-BR" sz="2800" dirty="0" err="1">
                <a:solidFill>
                  <a:schemeClr val="accent1">
                    <a:lumMod val="75000"/>
                  </a:schemeClr>
                </a:solidFill>
              </a:rPr>
              <a:t>OpenAPI</a:t>
            </a: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/Swagger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Não requer codificação para configuração básica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Permite simulação de latência, erros e diferentes cenários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r>
              <a:rPr lang="pt-BR" sz="2800" dirty="0">
                <a:solidFill>
                  <a:schemeClr val="accent1">
                    <a:lumMod val="75000"/>
                  </a:schemeClr>
                </a:solidFill>
              </a:rPr>
              <a:t>Suporta templates e dados dinâmicos</a:t>
            </a:r>
          </a:p>
          <a:p>
            <a:pPr marL="457200" lvl="1" indent="-457200">
              <a:lnSpc>
                <a:spcPct val="100000"/>
              </a:lnSpc>
              <a:buFont typeface="+mj-lt"/>
              <a:buAutoNum type="arabicPeriod"/>
            </a:pP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09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107" y="365125"/>
            <a:ext cx="10939236" cy="1325563"/>
          </a:xfrm>
        </p:spPr>
        <p:txBody>
          <a:bodyPr>
            <a:normAutofit/>
          </a:bodyPr>
          <a:lstStyle/>
          <a:p>
            <a:pPr algn="ctr"/>
            <a:r>
              <a:rPr dirty="0"/>
              <a:t>Comparação com Outras Ferramentas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3818058"/>
              </p:ext>
            </p:extLst>
          </p:nvPr>
        </p:nvGraphicFramePr>
        <p:xfrm>
          <a:off x="585107" y="2028825"/>
          <a:ext cx="10939236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7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3200" dirty="0"/>
                        <a:t>Ferramenta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3200" dirty="0"/>
                        <a:t>Prós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3200" dirty="0"/>
                        <a:t>Contras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b="1"/>
                        <a:t>Mockoon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Fácil de usar, OpenAPI, CLI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Limitações em lógica complexa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Postman Mock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Integração com Postman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Requer conta, limitações na versão gratuita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Wiremock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Poderoso, regras avançadas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Curva de aprendizado maior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dirty="0"/>
                        <a:t>MSW (Mock Service Worker)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Intercepta requisições no browser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Requer JavaScript, mais complexo</a:t>
                      </a:r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dirty="0"/>
                        <a:t>JSON Server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/>
                        <a:t>Simples, rápido</a:t>
                      </a:r>
                    </a:p>
                  </a:txBody>
                  <a:tcPr marL="87630" marR="8763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400" dirty="0"/>
                        <a:t>Limitado a REST, sem suporte a </a:t>
                      </a:r>
                      <a:r>
                        <a:rPr sz="2400" dirty="0" err="1"/>
                        <a:t>OpenAPI</a:t>
                      </a:r>
                      <a:endParaRPr sz="2400" dirty="0"/>
                    </a:p>
                  </a:txBody>
                  <a:tcPr marL="87630" marR="8763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 Biases Near the Hands Help Us Perform Specific Actions – Association  for Psychological Science – APS">
            <a:extLst>
              <a:ext uri="{FF2B5EF4-FFF2-40B4-BE49-F238E27FC236}">
                <a16:creationId xmlns:a16="http://schemas.microsoft.com/office/drawing/2014/main" id="{38ABF8AA-D96A-A586-F704-8537A9964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42185"/>
            <a:ext cx="12192000" cy="8388256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C7E902A-9612-1C94-E2B2-1BBA4C2D85FE}"/>
              </a:ext>
            </a:extLst>
          </p:cNvPr>
          <p:cNvSpPr/>
          <p:nvPr/>
        </p:nvSpPr>
        <p:spPr>
          <a:xfrm>
            <a:off x="1" y="-442184"/>
            <a:ext cx="12192000" cy="8388256"/>
          </a:xfrm>
          <a:prstGeom prst="rect">
            <a:avLst/>
          </a:prstGeom>
          <a:solidFill>
            <a:schemeClr val="accent1">
              <a:lumMod val="50000"/>
              <a:alpha val="7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Hands 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4515C-D0D9-0766-78A4-98BE7BED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82534E-8824-3C58-E5E1-DE7DD913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630936"/>
          </a:xfrm>
          <a:noFill/>
        </p:spPr>
        <p:txBody>
          <a:bodyPr rtlCol="0" anchor="t"/>
          <a:lstStyle>
            <a:defPPr>
              <a:defRPr lang="pt-BR"/>
            </a:defPPr>
          </a:lstStyle>
          <a:p>
            <a:pPr rtl="0"/>
            <a:r>
              <a:rPr lang="pt-BR" dirty="0"/>
              <a:t>Next</a:t>
            </a:r>
          </a:p>
        </p:txBody>
      </p:sp>
      <p:pic>
        <p:nvPicPr>
          <p:cNvPr id="20" name="Espaço Reservado para Imagem 7">
            <a:extLst>
              <a:ext uri="{FF2B5EF4-FFF2-40B4-BE49-F238E27FC236}">
                <a16:creationId xmlns:a16="http://schemas.microsoft.com/office/drawing/2014/main" id="{715DF627-F201-45E8-F7A1-D30DA51BCB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738" r="18738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4E1AB2-828A-9FDD-935E-4B8047731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1097280"/>
            <a:ext cx="6241650" cy="466344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3200" dirty="0"/>
              <a:t>Instalando</a:t>
            </a:r>
          </a:p>
          <a:p>
            <a:pPr rtl="0"/>
            <a:r>
              <a:rPr lang="pt-BR" sz="3200" dirty="0"/>
              <a:t>Configurando a api simples</a:t>
            </a:r>
          </a:p>
          <a:p>
            <a:pPr rtl="0"/>
            <a:r>
              <a:rPr lang="pt-BR" sz="3200" dirty="0"/>
              <a:t>Iniciando com a configuração</a:t>
            </a:r>
          </a:p>
          <a:p>
            <a:pPr rtl="0"/>
            <a:r>
              <a:rPr lang="pt-BR" sz="3200" dirty="0"/>
              <a:t>Testar</a:t>
            </a:r>
          </a:p>
          <a:p>
            <a:pPr rtl="0"/>
            <a:r>
              <a:rPr lang="pt-BR" sz="3200" dirty="0"/>
              <a:t>Fazer com outros </a:t>
            </a:r>
            <a:r>
              <a:rPr lang="pt-BR" sz="3200" dirty="0" err="1"/>
              <a:t>mocks</a:t>
            </a:r>
            <a:endParaRPr lang="pt-BR" sz="32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56C970E-9EE9-FEF8-BE7B-6C4C0B4EDF89}"/>
              </a:ext>
            </a:extLst>
          </p:cNvPr>
          <p:cNvSpPr/>
          <p:nvPr/>
        </p:nvSpPr>
        <p:spPr>
          <a:xfrm>
            <a:off x="0" y="-22225"/>
            <a:ext cx="4287838" cy="6880225"/>
          </a:xfrm>
          <a:prstGeom prst="rect">
            <a:avLst/>
          </a:prstGeom>
          <a:solidFill>
            <a:schemeClr val="accent1">
              <a:lumMod val="75000"/>
              <a:alpha val="5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307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trofile - Gestão de Arquivos, Documentos e Processos">
            <a:extLst>
              <a:ext uri="{FF2B5EF4-FFF2-40B4-BE49-F238E27FC236}">
                <a16:creationId xmlns:a16="http://schemas.microsoft.com/office/drawing/2014/main" id="{41B45B14-F731-4076-5472-89DD92E61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92" y="0"/>
            <a:ext cx="12367985" cy="721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8A7829F-0384-ECB8-1794-24C5A033CC32}"/>
              </a:ext>
            </a:extLst>
          </p:cNvPr>
          <p:cNvSpPr/>
          <p:nvPr/>
        </p:nvSpPr>
        <p:spPr>
          <a:xfrm>
            <a:off x="-94342" y="0"/>
            <a:ext cx="12367985" cy="7212432"/>
          </a:xfrm>
          <a:prstGeom prst="rect">
            <a:avLst/>
          </a:prstGeom>
          <a:solidFill>
            <a:schemeClr val="accent1">
              <a:lumMod val="50000"/>
              <a:alpha val="7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Arquivos utilizados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Github: </a:t>
            </a:r>
            <a:br>
              <a:rPr lang="pt-BR" dirty="0"/>
            </a:br>
            <a:r>
              <a:rPr lang="pt-BR" sz="3100" dirty="0"/>
              <a:t>/</a:t>
            </a:r>
            <a:r>
              <a:rPr lang="pt-BR" sz="3100" dirty="0" err="1"/>
              <a:t>bisslee</a:t>
            </a:r>
            <a:r>
              <a:rPr lang="pt-BR" sz="3100" dirty="0"/>
              <a:t>/</a:t>
            </a:r>
            <a:r>
              <a:rPr lang="pt-BR" sz="3100" dirty="0" err="1"/>
              <a:t>labs</a:t>
            </a:r>
            <a:r>
              <a:rPr lang="pt-BR" sz="3100" dirty="0"/>
              <a:t>-api-</a:t>
            </a:r>
            <a:r>
              <a:rPr lang="pt-BR" sz="3100" dirty="0" err="1"/>
              <a:t>mock</a:t>
            </a:r>
            <a:r>
              <a:rPr lang="pt-BR" sz="3100" dirty="0"/>
              <a:t>-</a:t>
            </a:r>
            <a:r>
              <a:rPr lang="pt-BR" sz="3100" dirty="0" err="1"/>
              <a:t>with-mockoon</a:t>
            </a:r>
            <a:endParaRPr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43" y="1825625"/>
            <a:ext cx="11538857" cy="4351338"/>
          </a:xfrm>
        </p:spPr>
        <p:txBody>
          <a:bodyPr>
            <a:noAutofit/>
          </a:bodyPr>
          <a:lstStyle/>
          <a:p>
            <a:pPr lvl="1"/>
            <a:r>
              <a:rPr lang="pt-BR" sz="2200" dirty="0" err="1">
                <a:latin typeface="+mj-lt"/>
              </a:rPr>
              <a:t>docker-compose.yml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 err="1">
                <a:latin typeface="+mj-lt"/>
              </a:rPr>
              <a:t>Dockerfile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>
                <a:latin typeface="+mj-lt"/>
              </a:rPr>
              <a:t>exemplo-</a:t>
            </a:r>
            <a:r>
              <a:rPr lang="pt-BR" sz="2200" dirty="0" err="1">
                <a:latin typeface="+mj-lt"/>
              </a:rPr>
              <a:t>faker</a:t>
            </a:r>
            <a:r>
              <a:rPr lang="pt-BR" sz="2200" dirty="0">
                <a:latin typeface="+mj-lt"/>
              </a:rPr>
              <a:t>-</a:t>
            </a:r>
            <a:r>
              <a:rPr lang="pt-BR" sz="2200" dirty="0" err="1">
                <a:latin typeface="+mj-lt"/>
              </a:rPr>
              <a:t>js.json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>
                <a:latin typeface="+mj-lt"/>
              </a:rPr>
              <a:t>exemplo-status-</a:t>
            </a:r>
            <a:r>
              <a:rPr lang="pt-BR" sz="2200" dirty="0" err="1">
                <a:latin typeface="+mj-lt"/>
              </a:rPr>
              <a:t>codes.json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 err="1">
                <a:latin typeface="+mj-lt"/>
              </a:rPr>
              <a:t>mockoon-config-efrotas-completo.json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>
                <a:latin typeface="+mj-lt"/>
              </a:rPr>
              <a:t>Guia de Configuração de Status Codes no Mockoon.md</a:t>
            </a:r>
          </a:p>
          <a:p>
            <a:pPr lvl="1"/>
            <a:r>
              <a:rPr lang="pt-BR" sz="2200" dirty="0">
                <a:latin typeface="+mj-lt"/>
              </a:rPr>
              <a:t>Guia de Execução do </a:t>
            </a:r>
            <a:r>
              <a:rPr lang="pt-BR" sz="2200" dirty="0" err="1">
                <a:latin typeface="+mj-lt"/>
              </a:rPr>
              <a:t>Mockoon</a:t>
            </a:r>
            <a:r>
              <a:rPr lang="pt-BR" sz="2200" dirty="0">
                <a:latin typeface="+mj-lt"/>
              </a:rPr>
              <a:t> em Docker.md</a:t>
            </a:r>
          </a:p>
          <a:p>
            <a:pPr lvl="1"/>
            <a:r>
              <a:rPr lang="pt-BR" sz="2200" dirty="0">
                <a:latin typeface="+mj-lt"/>
              </a:rPr>
              <a:t>Guia de Uso do Faker.js no Mockoon.js.md</a:t>
            </a:r>
          </a:p>
          <a:p>
            <a:pPr lvl="1"/>
            <a:r>
              <a:rPr lang="pt-BR" sz="2200" dirty="0" err="1">
                <a:latin typeface="+mj-lt"/>
              </a:rPr>
              <a:t>mockoon-config-efrotas-completo.json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 err="1">
                <a:latin typeface="+mj-lt"/>
              </a:rPr>
              <a:t>openapi</a:t>
            </a:r>
            <a:r>
              <a:rPr lang="pt-BR" sz="2200" dirty="0">
                <a:latin typeface="+mj-lt"/>
              </a:rPr>
              <a:t>-</a:t>
            </a:r>
            <a:r>
              <a:rPr lang="pt-BR" sz="2200" dirty="0" err="1">
                <a:latin typeface="+mj-lt"/>
              </a:rPr>
              <a:t>efrotas</a:t>
            </a:r>
            <a:r>
              <a:rPr lang="pt-BR" sz="2200" dirty="0">
                <a:latin typeface="+mj-lt"/>
              </a:rPr>
              <a:t>-estaleiro-</a:t>
            </a:r>
            <a:r>
              <a:rPr lang="pt-BR" sz="2200" dirty="0" err="1">
                <a:latin typeface="+mj-lt"/>
              </a:rPr>
              <a:t>nosecurity.yml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 err="1">
                <a:latin typeface="+mj-lt"/>
              </a:rPr>
              <a:t>openapi-simple.yml</a:t>
            </a:r>
            <a:endParaRPr lang="pt-BR" sz="2200" dirty="0">
              <a:latin typeface="+mj-lt"/>
            </a:endParaRPr>
          </a:p>
          <a:p>
            <a:pPr lvl="1"/>
            <a:r>
              <a:rPr lang="pt-BR" sz="2200" dirty="0">
                <a:latin typeface="+mj-lt"/>
              </a:rPr>
              <a:t>readme.md</a:t>
            </a:r>
          </a:p>
          <a:p>
            <a:pPr lvl="1"/>
            <a:r>
              <a:rPr lang="pt-BR" sz="2200" dirty="0">
                <a:latin typeface="+mj-lt"/>
              </a:rPr>
              <a:t>run-mockoon-docker.sh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492.700+ Proximos Passos fotos de stock, imagens e fotos royalty-free -  iStock">
            <a:extLst>
              <a:ext uri="{FF2B5EF4-FFF2-40B4-BE49-F238E27FC236}">
                <a16:creationId xmlns:a16="http://schemas.microsoft.com/office/drawing/2014/main" id="{772CCA05-4446-27C8-44AC-D6870B381FE1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6" b="602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Title 2">
            <a:extLst>
              <a:ext uri="{FF2B5EF4-FFF2-40B4-BE49-F238E27FC236}">
                <a16:creationId xmlns:a16="http://schemas.microsoft.com/office/drawing/2014/main" id="{73B15D8A-EFFC-D085-F357-C47F134CD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effectLst>
            <a:outerShdw blurRad="101600" dist="101600" dir="5400000" algn="ctr" rotWithShape="0">
              <a:schemeClr val="accent1">
                <a:lumMod val="50000"/>
              </a:schemeClr>
            </a:outerShdw>
          </a:effectLst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fazer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seguir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48136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Integração com Pipelines de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sz="2800" b="1" dirty="0" err="1"/>
              <a:t>Execução</a:t>
            </a:r>
            <a:r>
              <a:rPr sz="2800" b="1" dirty="0"/>
              <a:t> </a:t>
            </a:r>
            <a:r>
              <a:rPr sz="2800" b="1" dirty="0" err="1"/>
              <a:t>Automatizada</a:t>
            </a:r>
            <a:endParaRPr sz="2800" b="1" dirty="0"/>
          </a:p>
          <a:p>
            <a:pPr lvl="2"/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Iniciar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mock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como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parte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do pipeline de CI/CD</a:t>
            </a:r>
          </a:p>
          <a:p>
            <a:pPr lvl="2"/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Usar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em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testes de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integração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automatizados</a:t>
            </a:r>
            <a:endParaRPr lang="pt-BR"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sz="2800" b="1" dirty="0" err="1"/>
              <a:t>Configuração</a:t>
            </a:r>
            <a:r>
              <a:rPr sz="2800" b="1" dirty="0"/>
              <a:t> </a:t>
            </a:r>
            <a:r>
              <a:rPr sz="2800" b="1" dirty="0" err="1"/>
              <a:t>por</a:t>
            </a:r>
            <a:r>
              <a:rPr sz="2800" b="1" dirty="0"/>
              <a:t> </a:t>
            </a:r>
            <a:r>
              <a:rPr sz="2800" b="1" dirty="0" err="1"/>
              <a:t>Ambiente</a:t>
            </a:r>
            <a:endParaRPr sz="2800" b="1" dirty="0"/>
          </a:p>
          <a:p>
            <a:pPr lvl="2"/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Manter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configurações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específicas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para dev, test, staging</a:t>
            </a:r>
          </a:p>
          <a:p>
            <a:pPr lvl="2"/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Usar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variáveis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ambiente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para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configuração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dinâmica</a:t>
            </a:r>
            <a:endParaRPr lang="pt-BR"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sz="2800" b="1" dirty="0"/>
              <a:t>Testes de </a:t>
            </a:r>
            <a:r>
              <a:rPr sz="2800" b="1" dirty="0" err="1"/>
              <a:t>Regressão</a:t>
            </a:r>
            <a:endParaRPr sz="2800" b="1" dirty="0"/>
          </a:p>
          <a:p>
            <a:pPr lvl="2"/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Validar que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alterações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não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quebram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integrações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existentes</a:t>
            </a:r>
            <a:endParaRPr lang="pt-BR"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2"/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Comparar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respostas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com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versões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2">
                    <a:lumMod val="75000"/>
                  </a:schemeClr>
                </a:solidFill>
              </a:rPr>
              <a:t>anteriores</a:t>
            </a:r>
            <a:r>
              <a:rPr lang="pt-BR" sz="2400" dirty="0">
                <a:solidFill>
                  <a:schemeClr val="accent2">
                    <a:lumMod val="75000"/>
                  </a:schemeClr>
                </a:solidFill>
              </a:rPr>
              <a:t> do mock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Limitações da Solução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sz="2800" b="1" dirty="0" err="1"/>
              <a:t>Simulação</a:t>
            </a:r>
            <a:r>
              <a:rPr sz="2800" b="1" dirty="0"/>
              <a:t> de </a:t>
            </a:r>
            <a:r>
              <a:rPr sz="2800" b="1" dirty="0" err="1"/>
              <a:t>Autenticação</a:t>
            </a:r>
            <a:endParaRPr sz="2800" b="1" dirty="0"/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implementa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autenticação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real com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certificado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digital</a:t>
            </a:r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Simplifica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o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processo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autenticação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para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facilitar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testes</a:t>
            </a:r>
          </a:p>
          <a:p>
            <a:pPr lvl="1"/>
            <a:r>
              <a:rPr sz="2800" b="1" dirty="0"/>
              <a:t>Dados </a:t>
            </a:r>
            <a:r>
              <a:rPr sz="2800" b="1" dirty="0" err="1"/>
              <a:t>Estáticos</a:t>
            </a:r>
            <a:endParaRPr sz="2800" b="1" dirty="0"/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Respostas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predefinidas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sem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geração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dinâmica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complexa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Limitação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variabilidade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dos dados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retornados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sz="2800" b="1" dirty="0" err="1"/>
              <a:t>Lógica</a:t>
            </a:r>
            <a:r>
              <a:rPr sz="2800" b="1" dirty="0"/>
              <a:t> de Negócio</a:t>
            </a:r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implementa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regras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negócio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complexas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da API real</a:t>
            </a:r>
          </a:p>
          <a:p>
            <a:pPr lvl="2"/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Foco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estrutura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dos dados,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no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comportamento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completo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Possíveis Melhorias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0457"/>
            <a:ext cx="10515600" cy="4696506"/>
          </a:xfrm>
        </p:spPr>
        <p:txBody>
          <a:bodyPr>
            <a:noAutofit/>
          </a:bodyPr>
          <a:lstStyle/>
          <a:p>
            <a:pPr lvl="1"/>
            <a:r>
              <a:rPr sz="2800" b="1" dirty="0" err="1"/>
              <a:t>Integração</a:t>
            </a:r>
            <a:r>
              <a:rPr sz="2800" b="1" dirty="0"/>
              <a:t> com </a:t>
            </a:r>
            <a:r>
              <a:rPr sz="2800" b="1" dirty="0" err="1"/>
              <a:t>OpenAPI</a:t>
            </a:r>
            <a:endParaRPr sz="2800" b="1" dirty="0"/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Importação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direta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da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especificação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OpenAPI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para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Mockoon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Atualização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automática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quando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a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especificação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mudar</a:t>
            </a:r>
          </a:p>
          <a:p>
            <a:pPr lvl="1"/>
            <a:r>
              <a:rPr sz="2800" b="1" dirty="0"/>
              <a:t>Dados </a:t>
            </a:r>
            <a:r>
              <a:rPr sz="2800" b="1" dirty="0" err="1"/>
              <a:t>Dinâmicos</a:t>
            </a:r>
            <a:r>
              <a:rPr sz="2800" b="1" dirty="0"/>
              <a:t> </a:t>
            </a:r>
            <a:r>
              <a:rPr sz="2800" b="1" dirty="0" err="1"/>
              <a:t>Avançados</a:t>
            </a:r>
            <a:endParaRPr sz="2800" b="1" dirty="0"/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Implementação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de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geradores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de dados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mais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sofisticados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2"/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Maior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variabilidade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nas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respostas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sz="2800" b="1" dirty="0" err="1"/>
              <a:t>Containerização</a:t>
            </a:r>
            <a:endParaRPr sz="2800" b="1" dirty="0"/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Implementação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completa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com Docker para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portabilidade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2"/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Orquestração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com Kubernetes para ambientes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complexos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  <a:p>
            <a:pPr lvl="1"/>
            <a:r>
              <a:rPr sz="2800" b="1" dirty="0"/>
              <a:t>Interface de </a:t>
            </a:r>
            <a:r>
              <a:rPr sz="2800" b="1" dirty="0" err="1"/>
              <a:t>Administração</a:t>
            </a:r>
            <a:endParaRPr sz="2800" b="1" dirty="0"/>
          </a:p>
          <a:p>
            <a:pPr lvl="2"/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Dashboard para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monitoramento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e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configuração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em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tempo real</a:t>
            </a:r>
          </a:p>
          <a:p>
            <a:pPr lvl="2"/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Controle de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usuários</a:t>
            </a:r>
            <a:r>
              <a:rPr sz="2400" dirty="0">
                <a:solidFill>
                  <a:schemeClr val="accent2">
                    <a:lumMod val="75000"/>
                  </a:schemeClr>
                </a:solidFill>
              </a:rPr>
              <a:t> e </a:t>
            </a:r>
            <a:r>
              <a:rPr sz="2400" dirty="0" err="1">
                <a:solidFill>
                  <a:schemeClr val="accent2">
                    <a:lumMod val="75000"/>
                  </a:schemeClr>
                </a:solidFill>
              </a:rPr>
              <a:t>permissões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Perguntas e Respostas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Recursos Adicionais e Documentação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sz="2800" b="1" dirty="0"/>
              <a:t>Documentação Oficial</a:t>
            </a:r>
          </a:p>
          <a:p>
            <a:pPr lvl="2"/>
            <a:r>
              <a:rPr sz="2400" dirty="0" err="1">
                <a:hlinkClick r:id="rId2"/>
              </a:rPr>
              <a:t>Mockoon</a:t>
            </a:r>
            <a:r>
              <a:rPr sz="2400" dirty="0">
                <a:hlinkClick r:id="rId2"/>
              </a:rPr>
              <a:t> </a:t>
            </a:r>
            <a:r>
              <a:rPr sz="2400" dirty="0" err="1">
                <a:hlinkClick r:id="rId2"/>
              </a:rPr>
              <a:t>Documentation</a:t>
            </a:r>
            <a:endParaRPr sz="2400" dirty="0">
              <a:hlinkClick r:id="rId2"/>
            </a:endParaRPr>
          </a:p>
          <a:p>
            <a:pPr lvl="2"/>
            <a:r>
              <a:rPr sz="2400" dirty="0" err="1">
                <a:hlinkClick r:id="rId3"/>
              </a:rPr>
              <a:t>Mockoon</a:t>
            </a:r>
            <a:r>
              <a:rPr sz="2400" dirty="0">
                <a:hlinkClick r:id="rId3"/>
              </a:rPr>
              <a:t> CLI GitHub</a:t>
            </a:r>
          </a:p>
          <a:p>
            <a:pPr lvl="1"/>
            <a:r>
              <a:rPr sz="2800" b="1" dirty="0"/>
              <a:t>Tutoriais e Exemplos</a:t>
            </a:r>
          </a:p>
          <a:p>
            <a:pPr lvl="2"/>
            <a:r>
              <a:rPr sz="2400" dirty="0" err="1">
                <a:hlinkClick r:id="rId4"/>
              </a:rPr>
              <a:t>Mockoon</a:t>
            </a:r>
            <a:r>
              <a:rPr sz="2400" dirty="0">
                <a:hlinkClick r:id="rId4"/>
              </a:rPr>
              <a:t> </a:t>
            </a:r>
            <a:r>
              <a:rPr sz="2400" dirty="0" err="1">
                <a:hlinkClick r:id="rId4"/>
              </a:rPr>
              <a:t>Tutorials</a:t>
            </a:r>
            <a:endParaRPr sz="2400" dirty="0">
              <a:hlinkClick r:id="rId4"/>
            </a:endParaRPr>
          </a:p>
          <a:p>
            <a:pPr lvl="2"/>
            <a:r>
              <a:rPr sz="2400" dirty="0"/>
              <a:t>Exemplos no repositório do projeto</a:t>
            </a:r>
          </a:p>
          <a:p>
            <a:pPr lvl="1"/>
            <a:r>
              <a:rPr sz="2800" b="1" dirty="0"/>
              <a:t>Comunidade e Suporte</a:t>
            </a:r>
          </a:p>
          <a:p>
            <a:pPr lvl="2"/>
            <a:r>
              <a:rPr sz="2400" dirty="0" err="1">
                <a:hlinkClick r:id="rId5"/>
              </a:rPr>
              <a:t>Mockoon</a:t>
            </a:r>
            <a:r>
              <a:rPr sz="2400" dirty="0">
                <a:hlinkClick r:id="rId5"/>
              </a:rPr>
              <a:t> Community</a:t>
            </a:r>
          </a:p>
          <a:p>
            <a:pPr lvl="2"/>
            <a:r>
              <a:rPr sz="2400" dirty="0"/>
              <a:t>Canais internos de suporte da equipe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11" descr="Uma imagem ampliada de ponto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 err="1"/>
              <a:t>OBRIGADa</a:t>
            </a:r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in32_SL_V16" id="{C08B0D31-9878-4B86-9AA2-489D9D63805D}" vid="{DECC9CCA-8386-4D88-B03D-E024FA4FDFC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264</TotalTime>
  <Words>690</Words>
  <Application>Microsoft Office PowerPoint</Application>
  <PresentationFormat>Widescreen</PresentationFormat>
  <Paragraphs>149</Paragraphs>
  <Slides>22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Congenial Black</vt:lpstr>
      <vt:lpstr>Wingdings</vt:lpstr>
      <vt:lpstr>Personalizado</vt:lpstr>
      <vt:lpstr>API Mock e-Frotas  com Mockoon</vt:lpstr>
      <vt:lpstr>AGENDA</vt:lpstr>
      <vt:lpstr>Introdução</vt:lpstr>
      <vt:lpstr>O Problema</vt:lpstr>
      <vt:lpstr>O Objetivos do Projeto</vt:lpstr>
      <vt:lpstr>Conceitos  Fundamentais</vt:lpstr>
      <vt:lpstr>Desafios no Desenvolvimento  com APIs Externas</vt:lpstr>
      <vt:lpstr>Desafios no Desenvolvimento  com APIs Externas</vt:lpstr>
      <vt:lpstr>O que são APIs Mock?</vt:lpstr>
      <vt:lpstr>Mockoon</vt:lpstr>
      <vt:lpstr>Comparação com Outras Ferramentas</vt:lpstr>
      <vt:lpstr>Hands ON</vt:lpstr>
      <vt:lpstr>Next</vt:lpstr>
      <vt:lpstr>Arquivos utilizados</vt:lpstr>
      <vt:lpstr>Github:  /bisslee/labs-api-mock-with-mockoon</vt:lpstr>
      <vt:lpstr>O que fazer a seguir?</vt:lpstr>
      <vt:lpstr>Integração com Pipelines de CI/CD</vt:lpstr>
      <vt:lpstr>Limitações da Solução Atual</vt:lpstr>
      <vt:lpstr>Possíveis Melhorias Futuras</vt:lpstr>
      <vt:lpstr>Perguntas e Respostas</vt:lpstr>
      <vt:lpstr>Recursos Adicionais e Documentação</vt:lpstr>
      <vt:lpstr>OBRIGADa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Ivana Santos</cp:lastModifiedBy>
  <cp:revision>10</cp:revision>
  <dcterms:created xsi:type="dcterms:W3CDTF">2024-02-14T18:56:44Z</dcterms:created>
  <dcterms:modified xsi:type="dcterms:W3CDTF">2025-04-14T05:02:03Z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